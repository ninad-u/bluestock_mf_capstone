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06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1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222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7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63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93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2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0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3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D4FEFF0-A8FF-418B-91C8-254DB0D5C9F7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03DD580-2470-4A9E-8830-07489B241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461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17885"/>
            <a:ext cx="9144000" cy="1063868"/>
          </a:xfrm>
        </p:spPr>
        <p:txBody>
          <a:bodyPr>
            <a:normAutofit/>
          </a:bodyPr>
          <a:lstStyle/>
          <a:p>
            <a:r>
              <a:rPr lang="en-IN" sz="2000" b="1" dirty="0" err="1" smtClean="0"/>
              <a:t>Bluestock</a:t>
            </a:r>
            <a:r>
              <a:rPr lang="en-IN" sz="2000" b="1" dirty="0" smtClean="0"/>
              <a:t> Mutual Fund </a:t>
            </a:r>
            <a:r>
              <a:rPr lang="en-IN" sz="2000" b="1" dirty="0" smtClean="0"/>
              <a:t>Analytics</a:t>
            </a:r>
            <a:endParaRPr lang="en-IN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53254"/>
            <a:ext cx="9144000" cy="178483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cs typeface="Segoe UI Light" panose="020B0502040204020203" pitchFamily="34" charset="0"/>
              </a:rPr>
              <a:t>End-to-End Data Analytics for Fund </a:t>
            </a:r>
            <a:r>
              <a:rPr lang="en-US" dirty="0" smtClean="0">
                <a:cs typeface="Segoe UI Light" panose="020B0502040204020203" pitchFamily="34" charset="0"/>
              </a:rPr>
              <a:t>Performance,</a:t>
            </a:r>
          </a:p>
          <a:p>
            <a:pPr algn="l"/>
            <a:r>
              <a:rPr lang="en-US" dirty="0" smtClean="0">
                <a:cs typeface="Segoe UI Light" panose="020B0502040204020203" pitchFamily="34" charset="0"/>
              </a:rPr>
              <a:t>Investor </a:t>
            </a:r>
            <a:r>
              <a:rPr lang="en-US" dirty="0">
                <a:cs typeface="Segoe UI Light" panose="020B0502040204020203" pitchFamily="34" charset="0"/>
              </a:rPr>
              <a:t>Behavior, and Risk Assessment</a:t>
            </a:r>
          </a:p>
          <a:p>
            <a:endParaRPr lang="en-US" dirty="0" smtClean="0">
              <a:cs typeface="Segoe UI Light" panose="020B0502040204020203" pitchFamily="34" charset="0"/>
            </a:endParaRPr>
          </a:p>
          <a:p>
            <a:pPr algn="l"/>
            <a:r>
              <a:rPr lang="en-US" dirty="0" smtClean="0">
                <a:cs typeface="Segoe UI Light" panose="020B0502040204020203" pitchFamily="34" charset="0"/>
              </a:rPr>
              <a:t/>
            </a:r>
            <a:br>
              <a:rPr lang="en-US" dirty="0" smtClean="0">
                <a:cs typeface="Segoe UI Light" panose="020B0502040204020203" pitchFamily="34" charset="0"/>
              </a:rPr>
            </a:br>
            <a:r>
              <a:rPr lang="en-IN" i="1" dirty="0" smtClean="0">
                <a:cs typeface="Segoe UI Light" panose="020B0502040204020203" pitchFamily="34" charset="0"/>
              </a:rPr>
              <a:t>Capstone </a:t>
            </a:r>
            <a:r>
              <a:rPr lang="en-IN" i="1" dirty="0">
                <a:cs typeface="Segoe UI Light" panose="020B0502040204020203" pitchFamily="34" charset="0"/>
              </a:rPr>
              <a:t>Project </a:t>
            </a:r>
            <a:r>
              <a:rPr lang="en-IN" i="1" dirty="0" smtClean="0">
                <a:cs typeface="Segoe UI Light" panose="020B0502040204020203" pitchFamily="34" charset="0"/>
              </a:rPr>
              <a:t>Submission by Ninad Uchil</a:t>
            </a:r>
            <a:endParaRPr lang="en-IN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28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IN" dirty="0" smtClean="0"/>
              <a:t> &amp;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India's mutual fund sector has grown significantly, but investors lack integrated analytics for fund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 Limited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visibility into fund performance, investor behaviour, and industry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trends Need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data-driven decision-making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Industry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To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AUM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growth, SIP trends, folio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expansion;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consolidation and retail participation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Fund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Compare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risk-adjusted returns across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schemes and evaluate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volatility, drawdown, and benchmark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Investor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To profile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investor demographics and geographic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distribution, and assess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SIP continuity and cohort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Data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Build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ETL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and create a structured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to later enable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 for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decision-making.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56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Sources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Scheme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Data:</a:t>
            </a:r>
          </a:p>
          <a:p>
            <a:pPr marL="0" indent="0">
              <a:buNone/>
            </a:pP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 master and NAV history.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Market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Industry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AUM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fund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and Monthly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SIP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inflows.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 inflows:</a:t>
            </a:r>
          </a:p>
          <a:p>
            <a:pPr marL="0" indent="0">
              <a:buNone/>
            </a:pP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folio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 and Benchmark indices.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Investor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Portfolio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Investor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transactions: SIP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umpsum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Redemption.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Portfolio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holdings.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Scheme performance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44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84" y="2192572"/>
            <a:ext cx="10687149" cy="4199436"/>
          </a:xfrm>
        </p:spPr>
      </p:pic>
    </p:spTree>
    <p:extLst>
      <p:ext uri="{BB962C8B-B14F-4D97-AF65-F5344CB8AC3E}">
        <p14:creationId xmlns:p14="http://schemas.microsoft.com/office/powerpoint/2010/main" val="407102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EDA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</a:t>
            </a:r>
            <a:r>
              <a:rPr lang="en-IN" dirty="0" smtClean="0"/>
              <a:t>: Industry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Folio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Total mutual fund folios nearly doubled from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13.26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(Jan 2022) to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26.12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(Dec 2025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SIP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Inflow Peak: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Monthly SIP inflows reached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₹31,002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December 2025, showing continued growth throughout the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2022-2025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AMC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Dominance: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SBI Mutual Fund remained the largest AMC, with AUM growing from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₹6.3 lakh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(2022) to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₹12.5 lakh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(2025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Inflows: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Liquid funds consistently attracted the highest monthly net inflows, ranging from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₹32,374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₹41,952 crore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96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EDA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</a:t>
            </a:r>
            <a:r>
              <a:rPr lang="en-IN" dirty="0" smtClean="0"/>
              <a:t>: </a:t>
            </a:r>
            <a:r>
              <a:rPr lang="en-IN" dirty="0" smtClean="0"/>
              <a:t>Investor &amp; SIP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Age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26-35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group is the largest investor segment, accounting for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41.1%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SIP investors, followed by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36-45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24.9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City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Tier Distribution: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T30 cities contribute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66.3%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SIP inflows, compared to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33.7%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from B30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cities.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State-Level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Punjab and Tamil Nadu recorded the highest aggregate SIP amounts among analyzed states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SIP Ticket Size: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Median SIP contributions are consistent across age groups at approximately ₹5,000-₹5,420, with high-value outliers approaching ₹60,000.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3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en-IN" dirty="0" smtClean="0"/>
              <a:t> Metrics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performance: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3-year returns averaged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16.41%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wide variation across schemes.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&amp; Mid Cap led performance: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Cap and Mid Cap funds delivered higher average 3-year returns than Large Cap funds.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Risk-adjusted performance varied significantly: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Sharpe ratios showed clear differences in performance relative to volatility, with Liquid funds standing out due to very low risk.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Benchmark comparison: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Several top-performing Small Cap funds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outperformed their relevant benchmarks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 the 3-year period.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Wide performance dispersion: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Returns ranged from lower-risk categories such as Gilt/Liquid to significantly higher-performing equity schemes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Axis Midcap Fund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the top Equity performer (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35.36%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3-year return), while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ICICI </a:t>
            </a:r>
            <a:r>
              <a:rPr lang="en-US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Liquid Fund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 Debt (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7.39%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highlighting wide performance differences across schemes.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84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</a:t>
            </a:r>
            <a:r>
              <a:rPr lang="en-IN" dirty="0" smtClean="0"/>
              <a:t> &amp; Advanced Analytics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Downside risk varies sharply by category:</a:t>
            </a:r>
            <a:r>
              <a:rPr lang="en-US" dirty="0"/>
              <a:t> Small Cap funds showed substantially higher potential daily losses than Liquid funds.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Drawdowns</a:t>
            </a:r>
            <a:r>
              <a:rPr lang="en-US" b="1" dirty="0"/>
              <a:t> are much deeper in equity:</a:t>
            </a:r>
            <a:r>
              <a:rPr lang="en-US" dirty="0"/>
              <a:t> Small Cap funds experienced the largest historical declines, while Liquid funds showed minimal drawdown.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Portfolio concentration varies:</a:t>
            </a:r>
            <a:r>
              <a:rPr lang="en-US" dirty="0"/>
              <a:t> HHI analysis identified both highly concentrated and well-diversified portfolios.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SIP continuity is a key concern: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investors with 6+ SIPs met the defined continuity threshold, indicating potential retention risk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Fund Scoring:</a:t>
            </a:r>
            <a:r>
              <a:rPr lang="en-US" dirty="0" smtClean="0"/>
              <a:t> A scoring model combined performance and risk metrics to support comparative fund evaluation.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Industry Overview Dashboard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782" y="2031024"/>
            <a:ext cx="8982353" cy="46159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7193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Fund Performance Dashboard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657" y="2031024"/>
            <a:ext cx="8340603" cy="46159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760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</a:t>
            </a:r>
            <a:r>
              <a:rPr lang="en-IN" dirty="0" smtClean="0"/>
              <a:t> &amp; Recommendations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/>
              <a:t> Industry </a:t>
            </a:r>
            <a:r>
              <a:rPr lang="en-IN" b="1" dirty="0"/>
              <a:t>is growing:</a:t>
            </a:r>
            <a:r>
              <a:rPr lang="en-IN" dirty="0"/>
              <a:t> </a:t>
            </a:r>
            <a:r>
              <a:rPr lang="en-US" dirty="0"/>
              <a:t>AUM, SIP participation and folio counts increased strongly over the analysis period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Returns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</a:t>
            </a:r>
            <a:r>
              <a:rPr lang="en-US" dirty="0"/>
              <a:t> with different risk levels: Small and Mid Cap funds delivered higher returns but also higher volatility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Investor </a:t>
            </a:r>
            <a:r>
              <a:rPr lang="en-US" b="1" dirty="0"/>
              <a:t>participation is concentrated:</a:t>
            </a:r>
            <a:r>
              <a:rPr lang="en-US" dirty="0"/>
              <a:t> Younger, male investors and T30 cities make up a large share of the investor base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Risk </a:t>
            </a:r>
            <a:r>
              <a:rPr lang="en-US" b="1" dirty="0"/>
              <a:t>and SIP continuity need attention:</a:t>
            </a:r>
            <a:r>
              <a:rPr lang="en-US" dirty="0"/>
              <a:t> Some funds show higher downside risk, while SIP continuity is low among the analyzed long-term SIP investors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Recommendation</a:t>
            </a:r>
            <a:r>
              <a:rPr lang="en-US" b="1" dirty="0"/>
              <a:t>:</a:t>
            </a:r>
            <a:r>
              <a:rPr lang="en-US" dirty="0"/>
              <a:t> Compare </a:t>
            </a:r>
            <a:r>
              <a:rPr lang="en-US" b="1" dirty="0"/>
              <a:t>returns with risk</a:t>
            </a:r>
            <a:r>
              <a:rPr lang="en-US" dirty="0"/>
              <a:t>, maintain diversification, and improve investor outreach and SIP continuity.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87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721</TotalTime>
  <Words>822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Corbel</vt:lpstr>
      <vt:lpstr>Segoe UI Light</vt:lpstr>
      <vt:lpstr>Wingdings</vt:lpstr>
      <vt:lpstr>Banded</vt:lpstr>
      <vt:lpstr>Bluestock Mutual Fund Analytics</vt:lpstr>
      <vt:lpstr>Problem &amp; Objectives</vt:lpstr>
      <vt:lpstr>Data Sources</vt:lpstr>
      <vt:lpstr>ARCHITECTURE</vt:lpstr>
      <vt:lpstr>EDA Highlights: Industry</vt:lpstr>
      <vt:lpstr>EDA Highlights: Investor &amp; SIP</vt:lpstr>
      <vt:lpstr>Performance Metrics</vt:lpstr>
      <vt:lpstr>Risk &amp; Advanced Analytics</vt:lpstr>
      <vt:lpstr>Industry Overview Dashboard</vt:lpstr>
      <vt:lpstr>Fund Performance Dashboard</vt:lpstr>
      <vt:lpstr>Key Findings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Ninad Uchil</dc:creator>
  <cp:lastModifiedBy>Ninad Uchil</cp:lastModifiedBy>
  <cp:revision>24</cp:revision>
  <dcterms:created xsi:type="dcterms:W3CDTF">2026-08-11T15:01:21Z</dcterms:created>
  <dcterms:modified xsi:type="dcterms:W3CDTF">2026-08-12T15:50:51Z</dcterms:modified>
</cp:coreProperties>
</file>