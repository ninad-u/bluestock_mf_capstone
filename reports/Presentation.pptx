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7" d="100"/>
          <a:sy n="87" d="100"/>
        </p:scale>
        <p:origin x="52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5759" y="2166364"/>
            <a:ext cx="11471565" cy="1739347"/>
          </a:xfrm>
        </p:spPr>
        <p:txBody>
          <a:bodyPr tIns="45720" bIns="45720" anchor="ctr">
            <a:normAutofit/>
          </a:bodyPr>
          <a:lstStyle>
            <a:lvl1pPr algn="ctr">
              <a:lnSpc>
                <a:spcPct val="80000"/>
              </a:lnSpc>
              <a:defRPr sz="6000" spc="15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96250"/>
            <a:ext cx="9144000" cy="1309255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99061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6219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6843" y="2059012"/>
            <a:ext cx="12195668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191" y="2208879"/>
            <a:ext cx="10515600" cy="1676400"/>
          </a:xfrm>
        </p:spPr>
        <p:txBody>
          <a:bodyPr anchor="ctr">
            <a:noAutofit/>
          </a:bodyPr>
          <a:lstStyle>
            <a:lvl1pPr algn="ctr">
              <a:lnSpc>
                <a:spcPct val="80000"/>
              </a:lnSpc>
              <a:defRPr sz="6000" b="0" spc="150" baseline="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3191" y="4010334"/>
            <a:ext cx="10515600" cy="1174639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D4FEFF0-A8FF-418B-91C8-254DB0D5C9F7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42228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05344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0391" y="2011680"/>
            <a:ext cx="4754880" cy="420624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9373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7008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7008" y="2656566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1230" y="1913470"/>
            <a:ext cx="4754880" cy="743094"/>
          </a:xfrm>
        </p:spPr>
        <p:txBody>
          <a:bodyPr anchor="ctr">
            <a:normAutofit/>
          </a:bodyPr>
          <a:lstStyle>
            <a:lvl1pPr marL="0" indent="0">
              <a:buNone/>
              <a:defRPr sz="21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1230" y="2656564"/>
            <a:ext cx="4754880" cy="35661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863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09306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54242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7008" y="2120054"/>
            <a:ext cx="6126480" cy="4114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89023" y="2147486"/>
            <a:ext cx="3200400" cy="3432319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2239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0160" y="2211494"/>
            <a:ext cx="6126480" cy="3931920"/>
          </a:xfrm>
          <a:solidFill>
            <a:schemeClr val="tx2">
              <a:lumMod val="60000"/>
              <a:lumOff val="40000"/>
            </a:schemeClr>
          </a:solidFill>
        </p:spPr>
        <p:txBody>
          <a:bodyPr tIns="365760" anchor="t"/>
          <a:lstStyle>
            <a:lvl1pPr marL="0" indent="0" algn="ctr">
              <a:buNone/>
              <a:defRPr sz="3200">
                <a:solidFill>
                  <a:schemeClr val="tx1">
                    <a:lumMod val="50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2150621"/>
            <a:ext cx="3200400" cy="3429000"/>
          </a:xfrm>
        </p:spPr>
        <p:txBody>
          <a:bodyPr>
            <a:normAutofit/>
          </a:bodyPr>
          <a:lstStyle>
            <a:lvl1pPr marL="0" indent="0">
              <a:lnSpc>
                <a:spcPct val="95000"/>
              </a:lnSpc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44070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4FEFF0-A8FF-418B-91C8-254DB0D5C9F7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1978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019312" y="0"/>
            <a:ext cx="27432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0624" y="274638"/>
            <a:ext cx="2402380" cy="5897562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199" y="274638"/>
            <a:ext cx="7973291" cy="5897562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422854"/>
            <a:ext cx="2743196" cy="365125"/>
          </a:xfrm>
        </p:spPr>
        <p:txBody>
          <a:bodyPr/>
          <a:lstStyle/>
          <a:p>
            <a:fld id="{1D4FEFF0-A8FF-418B-91C8-254DB0D5C9F7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776135" y="6422854"/>
            <a:ext cx="4279669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3048" y="6422854"/>
            <a:ext cx="879759" cy="365125"/>
          </a:xfrm>
        </p:spPr>
        <p:txBody>
          <a:bodyPr/>
          <a:lstStyle/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6536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83" y="176109"/>
            <a:ext cx="12188952" cy="16459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02919" y="284176"/>
            <a:ext cx="9784080" cy="1508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02919" y="2011680"/>
            <a:ext cx="9784080" cy="4206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02266" y="6422854"/>
            <a:ext cx="3000894" cy="365125"/>
          </a:xfrm>
          <a:prstGeom prst="rect">
            <a:avLst/>
          </a:prstGeom>
        </p:spPr>
        <p:txBody>
          <a:bodyPr vert="horz" lIns="91440" tIns="45720" rIns="45720" bIns="45720" rtlCol="0" anchor="ctr"/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fld id="{1D4FEFF0-A8FF-418B-91C8-254DB0D5C9F7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596471" y="6422854"/>
            <a:ext cx="50444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58927" y="6422854"/>
            <a:ext cx="946264" cy="365125"/>
          </a:xfrm>
          <a:prstGeom prst="rect">
            <a:avLst/>
          </a:prstGeom>
        </p:spPr>
        <p:txBody>
          <a:bodyPr vert="horz" lIns="45720" tIns="45720" rIns="91440" bIns="45720" rtlCol="0" anchor="ctr"/>
          <a:lstStyle>
            <a:lvl1pPr algn="l">
              <a:defRPr sz="1200" b="0">
                <a:solidFill>
                  <a:schemeClr val="tx1"/>
                </a:solidFill>
              </a:defRPr>
            </a:lvl1pPr>
          </a:lstStyle>
          <a:p>
            <a:fld id="{403DD580-2470-4A9E-8830-07489B241DE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8461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000" kern="1200" cap="all" baseline="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/>
        </a:buClr>
        <a:buFont typeface="Wingdings" pitchFamily="2" charset="2"/>
        <a:buChar char="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2846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718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29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18062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Font typeface="Wingdings" pitchFamily="2" charset="2"/>
        <a:buChar char="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417885"/>
            <a:ext cx="9144000" cy="1063868"/>
          </a:xfrm>
        </p:spPr>
        <p:txBody>
          <a:bodyPr>
            <a:normAutofit/>
          </a:bodyPr>
          <a:lstStyle/>
          <a:p>
            <a:r>
              <a:rPr lang="en-IN" sz="2000" b="1" dirty="0" smtClean="0"/>
              <a:t>Bluestock Mutual Fund Analytics</a:t>
            </a:r>
            <a:endParaRPr lang="en-IN" sz="2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053254"/>
            <a:ext cx="9144000" cy="1784837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dirty="0">
                <a:cs typeface="Segoe UI Light" panose="020B0502040204020203" pitchFamily="34" charset="0"/>
              </a:rPr>
              <a:t>End-to-End Data Analytics for Fund </a:t>
            </a:r>
            <a:r>
              <a:rPr lang="en-US" dirty="0" smtClean="0">
                <a:cs typeface="Segoe UI Light" panose="020B0502040204020203" pitchFamily="34" charset="0"/>
              </a:rPr>
              <a:t>Performance,</a:t>
            </a:r>
          </a:p>
          <a:p>
            <a:pPr algn="l"/>
            <a:r>
              <a:rPr lang="en-US" dirty="0" smtClean="0">
                <a:cs typeface="Segoe UI Light" panose="020B0502040204020203" pitchFamily="34" charset="0"/>
              </a:rPr>
              <a:t>Investor </a:t>
            </a:r>
            <a:r>
              <a:rPr lang="en-US" dirty="0">
                <a:cs typeface="Segoe UI Light" panose="020B0502040204020203" pitchFamily="34" charset="0"/>
              </a:rPr>
              <a:t>Behavior, and Risk Assessment</a:t>
            </a:r>
          </a:p>
          <a:p>
            <a:endParaRPr lang="en-US" dirty="0" smtClean="0">
              <a:cs typeface="Segoe UI Light" panose="020B0502040204020203" pitchFamily="34" charset="0"/>
            </a:endParaRPr>
          </a:p>
          <a:p>
            <a:pPr algn="l"/>
            <a:r>
              <a:rPr lang="en-US" dirty="0" smtClean="0">
                <a:cs typeface="Segoe UI Light" panose="020B0502040204020203" pitchFamily="34" charset="0"/>
              </a:rPr>
              <a:t/>
            </a:r>
            <a:br>
              <a:rPr lang="en-US" dirty="0" smtClean="0">
                <a:cs typeface="Segoe UI Light" panose="020B0502040204020203" pitchFamily="34" charset="0"/>
              </a:rPr>
            </a:br>
            <a:r>
              <a:rPr lang="en-IN" i="1" dirty="0" smtClean="0">
                <a:cs typeface="Segoe UI Light" panose="020B0502040204020203" pitchFamily="34" charset="0"/>
              </a:rPr>
              <a:t>Capstone </a:t>
            </a:r>
            <a:r>
              <a:rPr lang="en-IN" i="1" dirty="0">
                <a:cs typeface="Segoe UI Light" panose="020B0502040204020203" pitchFamily="34" charset="0"/>
              </a:rPr>
              <a:t>Project </a:t>
            </a:r>
            <a:r>
              <a:rPr lang="en-IN" i="1" dirty="0" smtClean="0">
                <a:cs typeface="Segoe UI Light" panose="020B0502040204020203" pitchFamily="34" charset="0"/>
              </a:rPr>
              <a:t>Submission by Ninad Uchil</a:t>
            </a:r>
            <a:endParaRPr lang="en-IN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92834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  <a:r>
              <a:rPr lang="en-IN" dirty="0" smtClean="0"/>
              <a:t> &amp; Objectives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The </a:t>
            </a: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Challenge</a:t>
            </a:r>
          </a:p>
          <a:p>
            <a:pPr marL="0" indent="0">
              <a:buNone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India's mutual fund sector has grown significantly, but investors lack integrated analytics for fund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selection Limited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visibility into fund performance, investor behaviour, and industry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trends Need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data-driven decision-making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framework.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Objectives</a:t>
            </a:r>
          </a:p>
          <a:p>
            <a:pPr marL="0" indent="0">
              <a:buNone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Industry </a:t>
            </a: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Insight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To </a:t>
            </a:r>
            <a:r>
              <a:rPr lang="en-IN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analyze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AUM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growth, SIP trends, folio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expansion;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dentify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market consolidation and retail participation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patterns.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Fund </a:t>
            </a: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Performance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Compare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risk-adjusted returns across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schemes and evaluate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volatility, drawdown, and benchmark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performance.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Investor </a:t>
            </a: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Analysis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To profile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investor demographics and geographic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distribution, and assess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SIP continuity and cohort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behaviour.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Data </a:t>
            </a: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Infrastructure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Build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scalable ETL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pipeline and create a structured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analytics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database to later enable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interactive dashboards for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decision-making.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8569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Data Sources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Fund </a:t>
            </a: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&amp; Scheme </a:t>
            </a: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Data:</a:t>
            </a:r>
          </a:p>
          <a:p>
            <a:pPr marL="0" indent="0">
              <a:buNone/>
            </a:pP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Fund master and NAV history.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Market </a:t>
            </a: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&amp; Industry </a:t>
            </a: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0" indent="0">
              <a:buNone/>
            </a:pP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AUM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 fund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house and Monthly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SIP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inflows.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Category inflows:</a:t>
            </a:r>
          </a:p>
          <a:p>
            <a:pPr marL="0" indent="0">
              <a:buNone/>
            </a:pP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Industry 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folio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count and Benchmark indices.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Investor </a:t>
            </a: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&amp; Portfolio </a:t>
            </a: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Data: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Investor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transactions: SIP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IN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</a:t>
            </a:r>
            <a:r>
              <a:rPr lang="en-IN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umpsum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 Redemption.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Portfolio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holdings.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Scheme performance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metrics.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64450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ARCHITECTURE</a:t>
            </a:r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384" y="2192572"/>
            <a:ext cx="10687149" cy="4199436"/>
          </a:xfrm>
        </p:spPr>
      </p:pic>
    </p:spTree>
    <p:extLst>
      <p:ext uri="{BB962C8B-B14F-4D97-AF65-F5344CB8AC3E}">
        <p14:creationId xmlns:p14="http://schemas.microsoft.com/office/powerpoint/2010/main" val="4071027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EDA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Highlights</a:t>
            </a:r>
            <a:r>
              <a:rPr lang="en-IN" dirty="0" smtClean="0"/>
              <a:t>: Industry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Folio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Growth: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Total mutual fund folios nearly doubled from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13.26 crore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(Jan 2022) to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26.12 crore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(Dec 2025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SIP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Inflow Peak: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Monthly SIP inflows reached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₹31,002 crore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in December 2025, showing continued growth throughout the 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2022-2025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period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AMC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Dominance: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SBI Mutual Fund remained the largest AMC, with AUM growing from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₹6.3 lakh crore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(2022) to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₹12.5 lakh crore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(2025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Category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Inflows: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Liquid funds consistently attracted the highest monthly net inflows, ranging from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₹32,374 crore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to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₹41,952 crore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1961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EDA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Highlights</a:t>
            </a:r>
            <a:r>
              <a:rPr lang="en-IN" dirty="0" smtClean="0"/>
              <a:t>: Investor &amp; SIP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Age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Distribution: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The 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26-35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age group is the largest investor segment, accounting for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41.1%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of SIP investors, followed by 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36-45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24.9</a:t>
            </a: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%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City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Tier Distribution: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T30 cities contribute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66.3%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of SIP inflows, compared to 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33.7%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from B30 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cities.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State-Level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Activity: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Punjab and Tamil Nadu recorded the highest aggregate SIP amounts among analyzed states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SIP Ticket Size: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Median SIP contributions are consistent across age groups at approximately ₹5,000-₹5,420, with high-value outliers approaching ₹60,000.</a:t>
            </a:r>
          </a:p>
        </p:txBody>
      </p:sp>
    </p:spTree>
    <p:extLst>
      <p:ext uri="{BB962C8B-B14F-4D97-AF65-F5344CB8AC3E}">
        <p14:creationId xmlns:p14="http://schemas.microsoft.com/office/powerpoint/2010/main" val="5465382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Performance</a:t>
            </a:r>
            <a:r>
              <a:rPr lang="en-IN" dirty="0" smtClean="0"/>
              <a:t> Metrics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IN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Strong </a:t>
            </a:r>
            <a:r>
              <a:rPr lang="en-IN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long-term performance:</a:t>
            </a:r>
            <a:r>
              <a:rPr lang="en-IN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3-year returns averaged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16.41%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with wide variation across schemes.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 &amp; Mid Cap led performance: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Small Cap and Mid Cap funds delivered higher average 3-year returns than Large Cap funds.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Risk-adjusted performance varied significantly: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Sharpe ratios showed clear differences in performance relative to volatility, with Liquid funds standing out due to very low risk.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Benchmark comparison: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Several top-performing Small Cap funds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outperformed their relevant benchmarks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over the 3-year period.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Wide performance dispersion: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Returns ranged from lower-risk categories such as Gilt/Liquid to significantly higher-performing equity schemes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Axis Midcap Fund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was the top Equity performer (</a:t>
            </a: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35.36%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3-year return), while </a:t>
            </a: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ICICI </a:t>
            </a:r>
            <a:r>
              <a:rPr lang="en-US" b="1" dirty="0" err="1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Pru</a:t>
            </a: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Liquid Fund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led Debt (</a:t>
            </a:r>
            <a:r>
              <a:rPr lang="en-US" b="1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7.39%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), highlighting wide performance differences across schemes.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88450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</a:t>
            </a:r>
            <a:r>
              <a:rPr lang="en-IN" dirty="0" smtClean="0"/>
              <a:t> &amp; Advanced Analytics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b="1" dirty="0"/>
              <a:t> Downside risk varies sharply by category:</a:t>
            </a:r>
            <a:r>
              <a:rPr lang="en-US" dirty="0"/>
              <a:t> Small Cap funds showed substantially higher potential daily losses than Liquid funds.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/>
              <a:t>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Drawdowns</a:t>
            </a:r>
            <a:r>
              <a:rPr lang="en-US" b="1" dirty="0"/>
              <a:t> are much deeper in equity:</a:t>
            </a:r>
            <a:r>
              <a:rPr lang="en-US" dirty="0"/>
              <a:t> Small Cap funds experienced the largest historical declines, while Liquid funds showed minimal drawdown.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/>
              <a:t> Portfolio concentration varies:</a:t>
            </a:r>
            <a:r>
              <a:rPr lang="en-US" dirty="0"/>
              <a:t> HHI analysis identified both highly concentrated and well-diversified portfolios.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SIP continuity is a key concern: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Only </a:t>
            </a: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2.2%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of investors with 6+ SIPs met the defined continuity threshold, indicating potential retention risk</a:t>
            </a:r>
            <a:r>
              <a:rPr lang="en-US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/>
              <a:t>Fund Scoring:</a:t>
            </a:r>
            <a:r>
              <a:rPr lang="en-US" dirty="0" smtClean="0"/>
              <a:t> A scoring model combined performance and risk metrics to support comparative fund evaluation.</a:t>
            </a: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2830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Industry Overview Dashboard</a:t>
            </a:r>
            <a:endParaRPr lang="en-IN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9808" y="2040571"/>
            <a:ext cx="8250300" cy="459686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471936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Fund Performance Dashboard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4657" y="2031024"/>
            <a:ext cx="8340603" cy="461596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627608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Key </a:t>
            </a:r>
            <a:r>
              <a:rPr lang="en-IN" dirty="0" smtClea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Findings</a:t>
            </a:r>
            <a:r>
              <a:rPr lang="en-IN" dirty="0" smtClean="0"/>
              <a:t> &amp; Recommendations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IN" b="1" dirty="0" smtClean="0"/>
              <a:t> Industry </a:t>
            </a:r>
            <a:r>
              <a:rPr lang="en-IN" b="1" dirty="0"/>
              <a:t>is growing:</a:t>
            </a:r>
            <a:r>
              <a:rPr lang="en-IN" dirty="0"/>
              <a:t> </a:t>
            </a:r>
            <a:r>
              <a:rPr lang="en-US" dirty="0"/>
              <a:t>AUM, SIP participation and folio counts increased strongly over the analysis period</a:t>
            </a:r>
            <a:r>
              <a:rPr lang="en-US" dirty="0" smtClean="0"/>
              <a:t>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dirty="0" smtClean="0"/>
              <a:t> Returns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come</a:t>
            </a:r>
            <a:r>
              <a:rPr lang="en-US" dirty="0"/>
              <a:t> with different risk levels: Small and Mid Cap funds delivered higher returns but also higher volatility</a:t>
            </a:r>
            <a:r>
              <a:rPr lang="en-US" dirty="0" smtClean="0"/>
              <a:t>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/>
              <a:t> Investor </a:t>
            </a:r>
            <a:r>
              <a:rPr lang="en-US" b="1" dirty="0"/>
              <a:t>participation is concentrated:</a:t>
            </a:r>
            <a:r>
              <a:rPr lang="en-US" dirty="0"/>
              <a:t> Younger, male investors and T30 cities make up a large share of the investor base</a:t>
            </a:r>
            <a:r>
              <a:rPr lang="en-US" dirty="0" smtClean="0"/>
              <a:t>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/>
              <a:t> Risk </a:t>
            </a:r>
            <a:r>
              <a:rPr lang="en-US" b="1" dirty="0"/>
              <a:t>and SIP continuity need attention:</a:t>
            </a:r>
            <a:r>
              <a:rPr lang="en-US" dirty="0"/>
              <a:t> Some funds show higher downside risk, while SIP continuity is low among the analyzed long-term SIP investors</a:t>
            </a:r>
            <a:r>
              <a:rPr lang="en-US" dirty="0" smtClean="0"/>
              <a:t>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b="1" dirty="0" smtClean="0"/>
              <a:t> Recommendation</a:t>
            </a:r>
            <a:r>
              <a:rPr lang="en-US" b="1" dirty="0"/>
              <a:t>:</a:t>
            </a:r>
            <a:r>
              <a:rPr lang="en-US" dirty="0"/>
              <a:t> Compare </a:t>
            </a:r>
            <a:r>
              <a:rPr lang="en-US" b="1" dirty="0"/>
              <a:t>returns with risk</a:t>
            </a:r>
            <a:r>
              <a:rPr lang="en-US" dirty="0"/>
              <a:t>, maintain diversification, and improve investor outreach and SIP continuity.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19998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smtClean="0"/>
              <a:t>Thank you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68760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anded">
  <a:themeElements>
    <a:clrScheme name="Banded">
      <a:dk1>
        <a:srgbClr val="2C2C2C"/>
      </a:dk1>
      <a:lt1>
        <a:srgbClr val="FFFFFF"/>
      </a:lt1>
      <a:dk2>
        <a:srgbClr val="099BDD"/>
      </a:dk2>
      <a:lt2>
        <a:srgbClr val="F2F2F2"/>
      </a:lt2>
      <a:accent1>
        <a:srgbClr val="FFC000"/>
      </a:accent1>
      <a:accent2>
        <a:srgbClr val="A5D028"/>
      </a:accent2>
      <a:accent3>
        <a:srgbClr val="08CC78"/>
      </a:accent3>
      <a:accent4>
        <a:srgbClr val="F24099"/>
      </a:accent4>
      <a:accent5>
        <a:srgbClr val="828288"/>
      </a:accent5>
      <a:accent6>
        <a:srgbClr val="F56617"/>
      </a:accent6>
      <a:hlink>
        <a:srgbClr val="005DBA"/>
      </a:hlink>
      <a:folHlink>
        <a:srgbClr val="6C606A"/>
      </a:folHlink>
    </a:clrScheme>
    <a:fontScheme name="Banded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nded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atMod val="120000"/>
                <a:lumMod val="107000"/>
              </a:schemeClr>
            </a:gs>
            <a:gs pos="50000">
              <a:schemeClr val="phClr">
                <a:tint val="70000"/>
                <a:satMod val="124000"/>
                <a:lumMod val="103000"/>
              </a:schemeClr>
            </a:gs>
            <a:gs pos="100000">
              <a:schemeClr val="phClr">
                <a:tint val="85000"/>
                <a:satMod val="12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5000"/>
                <a:shade val="98000"/>
                <a:satMod val="110000"/>
                <a:lumMod val="103000"/>
              </a:schemeClr>
            </a:gs>
            <a:gs pos="50000">
              <a:schemeClr val="phClr">
                <a:shade val="85000"/>
                <a:satMod val="105000"/>
                <a:lumMod val="100000"/>
              </a:schemeClr>
            </a:gs>
            <a:gs pos="100000">
              <a:schemeClr val="phClr">
                <a:shade val="60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875" dir="5400000" algn="ctr" rotWithShape="0">
              <a:srgbClr val="000000">
                <a:alpha val="68000"/>
              </a:srgbClr>
            </a:outerShdw>
          </a:effectLst>
        </a:effectStyle>
        <a:effectStyle>
          <a:effectLst>
            <a:outerShdw blurRad="88900" dist="2794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/>
              <a:schemeClr val="phClr">
                <a:shade val="91000"/>
                <a:satMod val="105000"/>
              </a:schemeClr>
            </a:duotone>
          </a:blip>
          <a:tile tx="0" ty="0" sx="100000" sy="100000" flip="none" algn="tl"/>
        </a:blip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nded" id="{98DFF888-2449-4D28-977C-6306C017633E}" vid="{9792607F-9579-4224-82FF-9C88C3E1E53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TM03090430[[fn=Banded]]</Template>
  <TotalTime>728</TotalTime>
  <Words>822</Words>
  <Application>Microsoft Office PowerPoint</Application>
  <PresentationFormat>Widescreen</PresentationFormat>
  <Paragraphs>57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Calibri</vt:lpstr>
      <vt:lpstr>Corbel</vt:lpstr>
      <vt:lpstr>Segoe UI Light</vt:lpstr>
      <vt:lpstr>Wingdings</vt:lpstr>
      <vt:lpstr>Banded</vt:lpstr>
      <vt:lpstr>Bluestock Mutual Fund Analytics</vt:lpstr>
      <vt:lpstr>Problem &amp; Objectives</vt:lpstr>
      <vt:lpstr>Data Sources</vt:lpstr>
      <vt:lpstr>ARCHITECTURE</vt:lpstr>
      <vt:lpstr>EDA Highlights: Industry</vt:lpstr>
      <vt:lpstr>EDA Highlights: Investor &amp; SIP</vt:lpstr>
      <vt:lpstr>Performance Metrics</vt:lpstr>
      <vt:lpstr>Risk &amp; Advanced Analytics</vt:lpstr>
      <vt:lpstr>Industry Overview Dashboard</vt:lpstr>
      <vt:lpstr>Fund Performance Dashboard</vt:lpstr>
      <vt:lpstr>Key Findings &amp; Recommendations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Ninad Uchil</dc:creator>
  <cp:lastModifiedBy>Ninad Uchil</cp:lastModifiedBy>
  <cp:revision>27</cp:revision>
  <dcterms:created xsi:type="dcterms:W3CDTF">2026-08-11T15:01:21Z</dcterms:created>
  <dcterms:modified xsi:type="dcterms:W3CDTF">2026-08-31T01:08:56Z</dcterms:modified>
</cp:coreProperties>
</file>